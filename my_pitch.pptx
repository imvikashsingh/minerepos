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94429-CD6D-4E4A-968C-D9E71D7B11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25D5CB-3A6C-4D9B-BD61-AA86939EB3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14432E9-5B75-4860-AE8C-0AC5303471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770F53A-582F-41CA-AF38-E26A1256BD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3BB323C-4A41-4FFD-AE38-290BD8454E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4ED28D7-FF7F-45EA-ACDD-E8BF8D62D4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7E85EFE-5462-443D-90BF-AC9753669F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DD6D0C2-FFE7-4D10-9758-0DD249A572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BEBAB15-F23B-429A-809D-DA46552C70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5DCE635-0BD3-4B0C-8783-37194EC0C4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1244CED-5200-4460-ACB4-C0618EAD2D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3E50F7-6565-4547-A486-A52C3638D2D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BB8509-00F9-43DE-8512-7D4A41B918F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1FDCC0-518B-40D6-B20B-3EFCAA25903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9AC176-AFFE-4742-AD66-D5C60DC041D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251FA9-7B2E-49ED-998F-4668DC54DD0C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6C7E88-075B-4F92-838C-BCE32858209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9CA114-D35C-4D13-9404-2DCEB323547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19BE24-3CCD-4065-BDDE-100CA09682E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739869-0136-45DE-9481-713960B34EC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290287-EA8E-4885-9088-4CD4C8E186B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24EF91-3189-4A1A-9A92-83F953094F3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8280" y="116280"/>
            <a:ext cx="12191760" cy="664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9" name="Google Shape;85;p13" descr="image.png"/>
          <p:cNvPicPr/>
          <p:nvPr/>
        </p:nvPicPr>
        <p:blipFill>
          <a:blip r:embed="rId2"/>
          <a:stretch/>
        </p:blipFill>
        <p:spPr>
          <a:xfrm>
            <a:off x="762120" y="2002680"/>
            <a:ext cx="5657400" cy="4028760"/>
          </a:xfrm>
          <a:prstGeom prst="rect">
            <a:avLst/>
          </a:prstGeom>
          <a:ln w="0">
            <a:noFill/>
          </a:ln>
        </p:spPr>
      </p:pic>
      <p:pic>
        <p:nvPicPr>
          <p:cNvPr id="70" name="Google Shape;86;p13" descr="image.png"/>
          <p:cNvPicPr/>
          <p:nvPr/>
        </p:nvPicPr>
        <p:blipFill>
          <a:blip r:embed="rId3"/>
          <a:stretch/>
        </p:blipFill>
        <p:spPr>
          <a:xfrm>
            <a:off x="6800760" y="2002680"/>
            <a:ext cx="4628880" cy="402876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87;p13"/>
          <p:cNvSpPr/>
          <p:nvPr/>
        </p:nvSpPr>
        <p:spPr>
          <a:xfrm>
            <a:off x="1104840" y="2807640"/>
            <a:ext cx="5220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a580c"/>
                </a:solidFill>
                <a:latin typeface="Poppins SemiBold"/>
                <a:ea typeface="Poppins SemiBold"/>
              </a:rPr>
              <a:t>Uniform Retention Struggles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88;p13"/>
          <p:cNvSpPr/>
          <p:nvPr/>
        </p:nvSpPr>
        <p:spPr>
          <a:xfrm>
            <a:off x="1104840" y="3312360"/>
            <a:ext cx="497160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75569"/>
                </a:solidFill>
                <a:latin typeface="Lato"/>
                <a:ea typeface="Lato"/>
              </a:rPr>
              <a:t>Our current approach evaluates customer churn risk as a single general group. This triggers broad, flat retention offers across all tiers of savers.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89;p13"/>
          <p:cNvSpPr/>
          <p:nvPr/>
        </p:nvSpPr>
        <p:spPr>
          <a:xfrm>
            <a:off x="1104840" y="4255560"/>
            <a:ext cx="497160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75569"/>
                </a:solidFill>
                <a:latin typeface="Lato"/>
                <a:ea typeface="Lato"/>
              </a:rPr>
              <a:t>Generic offers—such as a small 20€ voucher or automatic fee waivers—are highly inefficient. They fail to capture the attention of high-net-worth clients while unnecessarily reducing our overall profit margins on standard accounts.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90;p13"/>
          <p:cNvSpPr/>
          <p:nvPr/>
        </p:nvSpPr>
        <p:spPr>
          <a:xfrm>
            <a:off x="7143840" y="2612520"/>
            <a:ext cx="41400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a580c"/>
                </a:solidFill>
                <a:latin typeface="Poppins SemiBold"/>
                <a:ea typeface="Poppins SemiBold"/>
              </a:rPr>
              <a:t>High-Value Concentration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91;p13"/>
          <p:cNvSpPr/>
          <p:nvPr/>
        </p:nvSpPr>
        <p:spPr>
          <a:xfrm>
            <a:off x="7143840" y="3117240"/>
            <a:ext cx="394308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75569"/>
                </a:solidFill>
                <a:latin typeface="Lato"/>
                <a:ea typeface="Lato"/>
              </a:rPr>
              <a:t>Customers holding savings balances above </a:t>
            </a:r>
            <a:r>
              <a:rPr b="1" lang="en-US" sz="1350" spc="-1" strike="noStrike">
                <a:solidFill>
                  <a:srgbClr val="0f172a"/>
                </a:solidFill>
                <a:latin typeface="Lato"/>
                <a:ea typeface="Lato"/>
              </a:rPr>
              <a:t>100,000 EUR</a:t>
            </a:r>
            <a:r>
              <a:rPr b="0" lang="en-US" sz="1350" spc="-1" strike="noStrike">
                <a:solidFill>
                  <a:srgbClr val="475569"/>
                </a:solidFill>
                <a:latin typeface="Lato"/>
                <a:ea typeface="Lato"/>
              </a:rPr>
              <a:t> make up a very small minority of our standard client roster.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92;p13"/>
          <p:cNvSpPr/>
          <p:nvPr/>
        </p:nvSpPr>
        <p:spPr>
          <a:xfrm>
            <a:off x="7143840" y="4060080"/>
            <a:ext cx="394308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475569"/>
                </a:solidFill>
                <a:latin typeface="Lato"/>
                <a:ea typeface="Lato"/>
              </a:rPr>
              <a:t>Yet they hold over 60% of our entire deposit portfolio.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93;p13"/>
          <p:cNvSpPr/>
          <p:nvPr/>
        </p:nvSpPr>
        <p:spPr>
          <a:xfrm>
            <a:off x="7143840" y="4745880"/>
            <a:ext cx="394308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75569"/>
                </a:solidFill>
                <a:latin typeface="Lato"/>
                <a:ea typeface="Lato"/>
              </a:rPr>
              <a:t>Treating this vital capital bedrock with low-tier automated responses leaves millions in assets open to aggressive competitor marketing.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94;p13"/>
          <p:cNvSpPr/>
          <p:nvPr/>
        </p:nvSpPr>
        <p:spPr>
          <a:xfrm>
            <a:off x="933480" y="871920"/>
            <a:ext cx="1102104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0f172a"/>
                </a:solidFill>
                <a:latin typeface="Poppins"/>
                <a:ea typeface="Poppins"/>
              </a:rPr>
              <a:t>The One-Size-Fits-All Risk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95;p13"/>
          <p:cNvSpPr/>
          <p:nvPr/>
        </p:nvSpPr>
        <p:spPr>
          <a:xfrm>
            <a:off x="762120" y="871920"/>
            <a:ext cx="56880" cy="54252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00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1" name="Google Shape;101;p14" descr="image.png"/>
          <p:cNvPicPr/>
          <p:nvPr/>
        </p:nvPicPr>
        <p:blipFill>
          <a:blip r:embed="rId2"/>
          <a:stretch/>
        </p:blipFill>
        <p:spPr>
          <a:xfrm>
            <a:off x="6334200" y="2238840"/>
            <a:ext cx="5095440" cy="3619080"/>
          </a:xfrm>
          <a:prstGeom prst="rect">
            <a:avLst/>
          </a:prstGeom>
          <a:ln w="0">
            <a:noFill/>
          </a:ln>
        </p:spPr>
      </p:pic>
      <p:sp>
        <p:nvSpPr>
          <p:cNvPr id="82" name="Google Shape;102;p14"/>
          <p:cNvSpPr/>
          <p:nvPr/>
        </p:nvSpPr>
        <p:spPr>
          <a:xfrm>
            <a:off x="762120" y="1995840"/>
            <a:ext cx="535032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ea580c"/>
                </a:solidFill>
                <a:latin typeface="Poppins SemiBold"/>
                <a:ea typeface="Poppins SemiBold"/>
              </a:rPr>
              <a:t>Enriched Churn Intelligence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03;p14"/>
          <p:cNvSpPr/>
          <p:nvPr/>
        </p:nvSpPr>
        <p:spPr>
          <a:xfrm>
            <a:off x="762120" y="2681640"/>
            <a:ext cx="509544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75569"/>
                </a:solidFill>
                <a:latin typeface="Lato"/>
                <a:ea typeface="Lato"/>
              </a:rPr>
              <a:t>Rather than relying only on standard transaction patterns, we integrate external data indicators to spot warning signs and run smarter campaigns: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Google Shape;104;p14" descr="image.png"/>
          <p:cNvPicPr/>
          <p:nvPr/>
        </p:nvPicPr>
        <p:blipFill>
          <a:blip r:embed="rId3"/>
          <a:stretch/>
        </p:blipFill>
        <p:spPr>
          <a:xfrm>
            <a:off x="6343560" y="2356200"/>
            <a:ext cx="5076360" cy="338400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105;p14"/>
          <p:cNvSpPr/>
          <p:nvPr/>
        </p:nvSpPr>
        <p:spPr>
          <a:xfrm>
            <a:off x="1047600" y="3795840"/>
            <a:ext cx="480960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34155"/>
                </a:solidFill>
                <a:latin typeface="Lato"/>
                <a:ea typeface="Lato"/>
              </a:rPr>
              <a:t>Regional Tax &amp; Income Trends: </a:t>
            </a:r>
            <a:r>
              <a:rPr b="1" lang="en-US" sz="1350" spc="-1" strike="noStrike">
                <a:solidFill>
                  <a:srgbClr val="0f172a"/>
                </a:solidFill>
                <a:latin typeface="Lato"/>
                <a:ea typeface="Lato"/>
              </a:rPr>
              <a:t>Blending public postal-code tax data to detect subtle household disposable wealth shifts.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06;p14"/>
          <p:cNvSpPr/>
          <p:nvPr/>
        </p:nvSpPr>
        <p:spPr>
          <a:xfrm>
            <a:off x="1047600" y="4424760"/>
            <a:ext cx="480960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34155"/>
                </a:solidFill>
                <a:latin typeface="Lato"/>
                <a:ea typeface="Lato"/>
              </a:rPr>
              <a:t>Competitor Interest Yields: </a:t>
            </a:r>
            <a:r>
              <a:rPr b="1" lang="en-US" sz="1350" spc="-1" strike="noStrike">
                <a:solidFill>
                  <a:srgbClr val="0f172a"/>
                </a:solidFill>
                <a:latin typeface="Lato"/>
                <a:ea typeface="Lato"/>
              </a:rPr>
              <a:t>Flagging outbound money flows the moment regional competitors announce superior savings rate adjustments.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07;p14"/>
          <p:cNvSpPr/>
          <p:nvPr/>
        </p:nvSpPr>
        <p:spPr>
          <a:xfrm>
            <a:off x="1047600" y="5310360"/>
            <a:ext cx="480960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34155"/>
                </a:solidFill>
                <a:latin typeface="Lato"/>
                <a:ea typeface="Lato"/>
              </a:rPr>
              <a:t>Internal Monetary Velocity: </a:t>
            </a:r>
            <a:r>
              <a:rPr b="1" lang="en-US" sz="1350" spc="-1" strike="noStrike">
                <a:solidFill>
                  <a:srgbClr val="0f172a"/>
                </a:solidFill>
                <a:latin typeface="Lato"/>
                <a:ea typeface="Lato"/>
              </a:rPr>
              <a:t>Tracking transaction deceleration habits to flag disengagement months before a final account closure.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Google Shape;108;p14" descr="image.png"/>
          <p:cNvPicPr/>
          <p:nvPr/>
        </p:nvPicPr>
        <p:blipFill>
          <a:blip r:embed="rId4"/>
          <a:stretch/>
        </p:blipFill>
        <p:spPr>
          <a:xfrm>
            <a:off x="762120" y="3829320"/>
            <a:ext cx="132840" cy="180720"/>
          </a:xfrm>
          <a:prstGeom prst="rect">
            <a:avLst/>
          </a:prstGeom>
          <a:ln w="0">
            <a:noFill/>
          </a:ln>
        </p:spPr>
      </p:pic>
      <p:pic>
        <p:nvPicPr>
          <p:cNvPr id="89" name="Google Shape;109;p14" descr="image.png"/>
          <p:cNvPicPr/>
          <p:nvPr/>
        </p:nvPicPr>
        <p:blipFill>
          <a:blip r:embed="rId5"/>
          <a:stretch/>
        </p:blipFill>
        <p:spPr>
          <a:xfrm>
            <a:off x="762120" y="4457880"/>
            <a:ext cx="171000" cy="180720"/>
          </a:xfrm>
          <a:prstGeom prst="rect">
            <a:avLst/>
          </a:prstGeom>
          <a:ln w="0">
            <a:noFill/>
          </a:ln>
        </p:spPr>
      </p:pic>
      <p:pic>
        <p:nvPicPr>
          <p:cNvPr id="90" name="Google Shape;110;p14" descr="image.png"/>
          <p:cNvPicPr/>
          <p:nvPr/>
        </p:nvPicPr>
        <p:blipFill>
          <a:blip r:embed="rId6"/>
          <a:stretch/>
        </p:blipFill>
        <p:spPr>
          <a:xfrm>
            <a:off x="762120" y="5343840"/>
            <a:ext cx="171000" cy="180720"/>
          </a:xfrm>
          <a:prstGeom prst="rect">
            <a:avLst/>
          </a:prstGeom>
          <a:ln w="0">
            <a:noFill/>
          </a:ln>
        </p:spPr>
      </p:pic>
      <p:sp>
        <p:nvSpPr>
          <p:cNvPr id="91" name="Google Shape;111;p14"/>
          <p:cNvSpPr/>
          <p:nvPr/>
        </p:nvSpPr>
        <p:spPr>
          <a:xfrm>
            <a:off x="933480" y="871920"/>
            <a:ext cx="1102104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0f172a"/>
                </a:solidFill>
                <a:latin typeface="Poppins"/>
                <a:ea typeface="Poppins"/>
              </a:rPr>
              <a:t>Spotting Churn Before the Exit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12;p14"/>
          <p:cNvSpPr/>
          <p:nvPr/>
        </p:nvSpPr>
        <p:spPr>
          <a:xfrm>
            <a:off x="762120" y="871920"/>
            <a:ext cx="56880" cy="54252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17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118;p15" descr="image.png"/>
          <p:cNvPicPr/>
          <p:nvPr/>
        </p:nvPicPr>
        <p:blipFill>
          <a:blip r:embed="rId2"/>
          <a:stretch/>
        </p:blipFill>
        <p:spPr>
          <a:xfrm>
            <a:off x="762120" y="4255560"/>
            <a:ext cx="2453400" cy="1896840"/>
          </a:xfrm>
          <a:prstGeom prst="rect">
            <a:avLst/>
          </a:prstGeom>
          <a:ln w="0">
            <a:noFill/>
          </a:ln>
        </p:spPr>
      </p:pic>
      <p:pic>
        <p:nvPicPr>
          <p:cNvPr id="95" name="Google Shape;119;p15" descr="image.png"/>
          <p:cNvPicPr/>
          <p:nvPr/>
        </p:nvPicPr>
        <p:blipFill>
          <a:blip r:embed="rId3"/>
          <a:stretch/>
        </p:blipFill>
        <p:spPr>
          <a:xfrm>
            <a:off x="3500280" y="1882080"/>
            <a:ext cx="2453400" cy="189684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120;p15" descr="image.png"/>
          <p:cNvPicPr/>
          <p:nvPr/>
        </p:nvPicPr>
        <p:blipFill>
          <a:blip r:embed="rId4"/>
          <a:stretch/>
        </p:blipFill>
        <p:spPr>
          <a:xfrm>
            <a:off x="6238440" y="4255560"/>
            <a:ext cx="2453400" cy="189684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121;p15" descr="image.png"/>
          <p:cNvPicPr/>
          <p:nvPr/>
        </p:nvPicPr>
        <p:blipFill>
          <a:blip r:embed="rId5"/>
          <a:stretch/>
        </p:blipFill>
        <p:spPr>
          <a:xfrm>
            <a:off x="8976240" y="1882080"/>
            <a:ext cx="2453400" cy="1896840"/>
          </a:xfrm>
          <a:prstGeom prst="rect">
            <a:avLst/>
          </a:prstGeom>
          <a:ln w="0">
            <a:noFill/>
          </a:ln>
        </p:spPr>
      </p:pic>
      <p:sp>
        <p:nvSpPr>
          <p:cNvPr id="98" name="Google Shape;122;p15"/>
          <p:cNvSpPr/>
          <p:nvPr/>
        </p:nvSpPr>
        <p:spPr>
          <a:xfrm>
            <a:off x="910800" y="4627080"/>
            <a:ext cx="2155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Poppins SemiBold"/>
                <a:ea typeface="Poppins SemiBold"/>
              </a:rPr>
              <a:t>1. Data Fusion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123;p15"/>
          <p:cNvSpPr/>
          <p:nvPr/>
        </p:nvSpPr>
        <p:spPr>
          <a:xfrm>
            <a:off x="961920" y="5017320"/>
            <a:ext cx="2053080" cy="91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Lato"/>
                <a:ea typeface="Lato"/>
              </a:rPr>
              <a:t>We blend internal transactions with external neighborhood economic indicators and competitor yields.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124;p15"/>
          <p:cNvSpPr/>
          <p:nvPr/>
        </p:nvSpPr>
        <p:spPr>
          <a:xfrm>
            <a:off x="3648960" y="2282040"/>
            <a:ext cx="2155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Poppins SemiBold"/>
                <a:ea typeface="Poppins SemiBold"/>
              </a:rPr>
              <a:t>2. Segment Filter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25;p15"/>
          <p:cNvSpPr/>
          <p:nvPr/>
        </p:nvSpPr>
        <p:spPr>
          <a:xfrm>
            <a:off x="3700080" y="2672640"/>
            <a:ext cx="2053080" cy="91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Lato"/>
                <a:ea typeface="Lato"/>
              </a:rPr>
              <a:t>The system splits mass-market indicators from high-value accounts (&gt;100k) to isolate distinct behaviors.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26;p15"/>
          <p:cNvSpPr/>
          <p:nvPr/>
        </p:nvSpPr>
        <p:spPr>
          <a:xfrm>
            <a:off x="6387120" y="4627080"/>
            <a:ext cx="2155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Poppins SemiBold"/>
                <a:ea typeface="Poppins SemiBold"/>
              </a:rPr>
              <a:t>3. Priority Alert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127;p15"/>
          <p:cNvSpPr/>
          <p:nvPr/>
        </p:nvSpPr>
        <p:spPr>
          <a:xfrm>
            <a:off x="6438240" y="5017320"/>
            <a:ext cx="2053080" cy="91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Lato"/>
                <a:ea typeface="Lato"/>
              </a:rPr>
              <a:t>When high-value accounts trigger a warning, an automated alert is routed directly to personal bankers.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128;p15"/>
          <p:cNvSpPr/>
          <p:nvPr/>
        </p:nvSpPr>
        <p:spPr>
          <a:xfrm>
            <a:off x="9125280" y="2282040"/>
            <a:ext cx="2155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Poppins SemiBold"/>
                <a:ea typeface="Poppins SemiBold"/>
              </a:rPr>
              <a:t>4. Bespoke Offers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129;p15"/>
          <p:cNvSpPr/>
          <p:nvPr/>
        </p:nvSpPr>
        <p:spPr>
          <a:xfrm>
            <a:off x="9176400" y="2672640"/>
            <a:ext cx="2053080" cy="91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4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Lato"/>
                <a:ea typeface="Lato"/>
              </a:rPr>
              <a:t>Bankers deploy personalized retention efforts, such as custom rate matching or exclusive advisory perks.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30;p15"/>
          <p:cNvSpPr/>
          <p:nvPr/>
        </p:nvSpPr>
        <p:spPr>
          <a:xfrm>
            <a:off x="762120" y="3998160"/>
            <a:ext cx="10667520" cy="378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131;p15"/>
          <p:cNvSpPr/>
          <p:nvPr/>
        </p:nvSpPr>
        <p:spPr>
          <a:xfrm>
            <a:off x="933480" y="871920"/>
            <a:ext cx="1102104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0f172a"/>
                </a:solidFill>
                <a:latin typeface="Poppins"/>
                <a:ea typeface="Poppins"/>
              </a:rPr>
              <a:t>The Multi-Tiered Implementation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32;p15"/>
          <p:cNvSpPr/>
          <p:nvPr/>
        </p:nvSpPr>
        <p:spPr>
          <a:xfrm>
            <a:off x="762120" y="871920"/>
            <a:ext cx="56880" cy="54252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33;p15"/>
          <p:cNvSpPr/>
          <p:nvPr/>
        </p:nvSpPr>
        <p:spPr>
          <a:xfrm>
            <a:off x="1902960" y="393156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afaf9"/>
          </a:solidFill>
          <a:ln w="381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34;p15"/>
          <p:cNvSpPr/>
          <p:nvPr/>
        </p:nvSpPr>
        <p:spPr>
          <a:xfrm>
            <a:off x="4641120" y="393156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afaf9"/>
          </a:solidFill>
          <a:ln w="381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35;p15"/>
          <p:cNvSpPr/>
          <p:nvPr/>
        </p:nvSpPr>
        <p:spPr>
          <a:xfrm>
            <a:off x="7379280" y="393156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afaf9"/>
          </a:solidFill>
          <a:ln w="381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36;p15"/>
          <p:cNvSpPr/>
          <p:nvPr/>
        </p:nvSpPr>
        <p:spPr>
          <a:xfrm>
            <a:off x="10117440" y="393156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afaf9"/>
          </a:solidFill>
          <a:ln w="381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41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14" name="Google Shape;142;p16" descr="image.png"/>
          <p:cNvPicPr/>
          <p:nvPr/>
        </p:nvPicPr>
        <p:blipFill>
          <a:blip r:embed="rId2"/>
          <a:stretch/>
        </p:blipFill>
        <p:spPr>
          <a:xfrm>
            <a:off x="762120" y="2619360"/>
            <a:ext cx="5143320" cy="2795400"/>
          </a:xfrm>
          <a:prstGeom prst="rect">
            <a:avLst/>
          </a:prstGeom>
          <a:ln w="0">
            <a:noFill/>
          </a:ln>
        </p:spPr>
      </p:pic>
      <p:pic>
        <p:nvPicPr>
          <p:cNvPr id="115" name="Google Shape;143;p16" descr="image.png"/>
          <p:cNvPicPr/>
          <p:nvPr/>
        </p:nvPicPr>
        <p:blipFill>
          <a:blip r:embed="rId3"/>
          <a:stretch/>
        </p:blipFill>
        <p:spPr>
          <a:xfrm>
            <a:off x="6286680" y="2619360"/>
            <a:ext cx="5143320" cy="2795400"/>
          </a:xfrm>
          <a:prstGeom prst="rect">
            <a:avLst/>
          </a:prstGeom>
          <a:ln w="0">
            <a:noFill/>
          </a:ln>
        </p:spPr>
      </p:pic>
      <p:sp>
        <p:nvSpPr>
          <p:cNvPr id="116" name="Google Shape;144;p16"/>
          <p:cNvSpPr/>
          <p:nvPr/>
        </p:nvSpPr>
        <p:spPr>
          <a:xfrm>
            <a:off x="1152360" y="3009960"/>
            <a:ext cx="436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ea580c"/>
                </a:solidFill>
                <a:latin typeface="Poppins"/>
                <a:ea typeface="Poppins"/>
              </a:rPr>
              <a:t>60%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45;p16"/>
          <p:cNvSpPr/>
          <p:nvPr/>
        </p:nvSpPr>
        <p:spPr>
          <a:xfrm>
            <a:off x="1152360" y="3791160"/>
            <a:ext cx="436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Lato"/>
                <a:ea typeface="Lato"/>
              </a:rPr>
              <a:t>Deposit Capital Secured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46;p16"/>
          <p:cNvSpPr/>
          <p:nvPr/>
        </p:nvSpPr>
        <p:spPr>
          <a:xfrm>
            <a:off x="1152360" y="4238640"/>
            <a:ext cx="436212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9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64748b"/>
                </a:solidFill>
                <a:latin typeface="Lato"/>
                <a:ea typeface="Lato"/>
              </a:rPr>
              <a:t>Focusing specialized models on clients holding over 100k EUR helps insulate our critical asset foundation from competitor rate movements.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147;p16"/>
          <p:cNvSpPr/>
          <p:nvPr/>
        </p:nvSpPr>
        <p:spPr>
          <a:xfrm>
            <a:off x="6676920" y="3009960"/>
            <a:ext cx="436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ea580c"/>
                </a:solidFill>
                <a:latin typeface="Poppins"/>
                <a:ea typeface="Poppins"/>
              </a:rPr>
              <a:t>10x+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148;p16"/>
          <p:cNvSpPr/>
          <p:nvPr/>
        </p:nvSpPr>
        <p:spPr>
          <a:xfrm>
            <a:off x="6676920" y="3791160"/>
            <a:ext cx="436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Lato"/>
                <a:ea typeface="Lato"/>
              </a:rPr>
              <a:t>Improved Campaign ROI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49;p16"/>
          <p:cNvSpPr/>
          <p:nvPr/>
        </p:nvSpPr>
        <p:spPr>
          <a:xfrm>
            <a:off x="6676920" y="4238640"/>
            <a:ext cx="436212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9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64748b"/>
                </a:solidFill>
                <a:latin typeface="Lato"/>
                <a:ea typeface="Lato"/>
              </a:rPr>
              <a:t>Moving away from flat, generic vouchers to high-touch personal outreach minimizes wasted incentive spend and improves response rates.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150;p16"/>
          <p:cNvSpPr/>
          <p:nvPr/>
        </p:nvSpPr>
        <p:spPr>
          <a:xfrm>
            <a:off x="933480" y="871920"/>
            <a:ext cx="1102104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0f172a"/>
                </a:solidFill>
                <a:latin typeface="Poppins"/>
                <a:ea typeface="Poppins"/>
              </a:rPr>
              <a:t>Expected Business Outcomes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51;p16"/>
          <p:cNvSpPr/>
          <p:nvPr/>
        </p:nvSpPr>
        <p:spPr>
          <a:xfrm>
            <a:off x="762120" y="871920"/>
            <a:ext cx="56880" cy="54252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2026-06-18T10:57:40Z</dcterms:modified>
  <cp:revision>1</cp:revision>
  <dc:subject/>
  <dc:title/>
</cp:coreProperties>
</file>